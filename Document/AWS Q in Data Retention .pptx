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A34A-3C4F-C79B-6FB9-9B341D470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78B1E-BBA3-5A0E-088D-F9CA4C077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B219-FDDD-2B60-9908-20B342F6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FBBA-CD43-D4AC-01AD-E73083AC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D8216-E101-96EE-31A2-E5924A83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1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8443-0A95-E20E-E78C-231CBA7A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1DA0B-2C06-DCFE-481A-1B24F54AD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FBC9-DC13-E8EE-6CDA-943A93B4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3DB5D-72E6-BCF1-3511-E918A4FF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4638-BD4A-2EFF-8D12-413E672B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4609-BAAA-783C-0B9F-5FDD43D0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A8789-CF53-1B64-2432-43B0F655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E553-1FE3-86E8-FCE9-AAA7750A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DA49-B28A-120F-E456-188158B9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05FA9-CAC2-B56C-843F-B4124F88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5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24BF-2E32-A98B-E461-60AAAA52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0093A-085E-E608-FBEA-D70133606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94C35-DC71-D032-1A24-FB84BA981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ABE61-5610-8D17-797D-53FDCE28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4C438-CE34-C2EF-2A2A-EBEB76E8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FCCC-9808-FA96-154B-4BB37DB5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26E4-2C8E-BE8B-7782-9AF0020D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6D80-7B1C-B199-00DF-69E139AB5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A92DF-C3C2-EB09-4B8A-C2F8A3626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AFD07-0BE6-50C2-9A7E-A9F4C84DF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70DF0-C6CA-5E72-64B1-5D770EBD4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296B1-AD8B-5B9C-815A-5261B149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66F06-9566-C712-5C38-7C4FA1D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9B9B9-409B-A85C-DAF1-4A399B54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6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C005-F86C-E4FA-490E-30844D0E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32C64-A13B-08F5-AF8D-3F4AEC8B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BA34B-52C7-1566-B440-E2D9F241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20A7D-9977-DED9-811A-27950181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5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A1589-EACE-A6F5-7F04-247C94B7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6F1D-8926-9D8B-60ED-3FC8542F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39732-6EFF-238D-AD38-3763DACB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9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58A-94E3-FBBA-05FA-521AA55E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79A6-841C-1DDF-2F3C-1326D534D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98A1B-3129-9A50-1E2F-959FC181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84847-B7E1-567A-97A4-367D039C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09AC7-18C9-2396-DBE5-F8251DDA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68485-D0CA-1B46-D834-AE0390CD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4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33167-6E8F-B940-8BA0-361D4F127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ACCC-A62C-6685-FBB8-78D0C8163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C2F83-7D49-65BA-D5C7-C6AE3786A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9FB11-50EF-9AE5-1C4B-375E14CF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61484-8207-9499-1127-D3775352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C8A82-8786-BAAC-C154-2F54585C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4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D6FA-85CA-6E3A-E0AC-CA5A9FF2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1AE43-726C-0A53-E5DE-9E6670121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B0498-A8C2-D82B-881C-EF4E01E7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6F1E-1276-C6BF-9618-628AF869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9E096-AF34-AB5E-E41B-C4DA6C91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E86D5-297C-6337-BD53-767E72C44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C566-3537-D675-C287-52D3DAD78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F94A-630A-2A44-1467-FBB70690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830F3-EE29-CAAA-F7AD-63EC2B83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5569-3107-AB7E-9270-3D983F11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4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2ADDC-5317-6A34-1585-A226C021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CCCC-31FC-7A1D-0912-9C2AB63AA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1DB97-0A9C-87F7-ADB9-122A7ECEF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87413-EA46-6242-A4DE-515417A410E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05390-9FF7-0E6A-3E5F-602D0CA8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61FD-52A9-0E32-8059-CE22538F0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5A519-9481-7747-BE47-E7E16DA38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4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C71E-BEC4-72A6-3A88-FD97C569F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87262" cy="74295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AWS Q in Data 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DF82B-4C83-BAEC-40EE-AFBD1354C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325" y="1243013"/>
            <a:ext cx="10353675" cy="5057775"/>
          </a:xfrm>
        </p:spPr>
        <p:txBody>
          <a:bodyPr>
            <a:normAutofit/>
          </a:bodyPr>
          <a:lstStyle/>
          <a:p>
            <a:pPr algn="l"/>
            <a:r>
              <a:rPr lang="en-IN" sz="1600" dirty="0"/>
              <a:t>In our university’s data hub...</a:t>
            </a:r>
          </a:p>
          <a:p>
            <a:pPr algn="l"/>
            <a:r>
              <a:rPr lang="en-IN" sz="1600" dirty="0"/>
              <a:t>We don’t just store student records... we store student ecosystems</a:t>
            </a:r>
            <a:r>
              <a:rPr lang="en-IN" sz="1600" b="1" dirty="0"/>
              <a:t>.</a:t>
            </a:r>
            <a:endParaRPr lang="en-IN" sz="1600" dirty="0"/>
          </a:p>
          <a:p>
            <a:pPr algn="l"/>
            <a:r>
              <a:rPr lang="en-IN" sz="1600" dirty="0"/>
              <a:t>Each student connects to hundreds of related entries: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STUDENT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	ENROLLMENT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 		COURSE_HISTORY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 	ATTENDANCE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 	GRADES</a:t>
            </a:r>
          </a:p>
          <a:p>
            <a:pPr algn="l">
              <a:lnSpc>
                <a:spcPct val="100000"/>
              </a:lnSpc>
            </a:pPr>
            <a:r>
              <a:rPr lang="en-US" sz="1600" dirty="0"/>
              <a:t>	FEES</a:t>
            </a:r>
          </a:p>
          <a:p>
            <a:pPr algn="l">
              <a:lnSpc>
                <a:spcPct val="100000"/>
              </a:lnSpc>
            </a:pPr>
            <a:r>
              <a:rPr lang="en-IN" sz="1600" dirty="0"/>
              <a:t>When a student record is subject to deletion, it triggers a chain of connected data across systems  and deleting only the main record leaves orphaned, non-compliant data behind</a:t>
            </a:r>
          </a:p>
          <a:p>
            <a:pPr algn="l">
              <a:lnSpc>
                <a:spcPct val="100000"/>
              </a:lnSpc>
            </a:pPr>
            <a:r>
              <a:rPr lang="en-IN" sz="1600" b="1" dirty="0"/>
              <a:t>The challenge?</a:t>
            </a:r>
            <a:br>
              <a:rPr lang="en-IN" sz="1600" dirty="0"/>
            </a:br>
            <a:r>
              <a:rPr lang="en-IN" sz="1600" dirty="0"/>
              <a:t>That’s where it gets tricky, because we have hundreds of tables, and not all have a direct link to the student table</a:t>
            </a:r>
            <a:r>
              <a:rPr lang="en-IN" sz="1200" dirty="0"/>
              <a:t>.</a:t>
            </a:r>
          </a:p>
          <a:p>
            <a:pPr algn="l">
              <a:lnSpc>
                <a:spcPct val="100000"/>
              </a:lnSpc>
            </a:pPr>
            <a:r>
              <a:rPr lang="en-IN" sz="1600" dirty="0"/>
              <a:t>Sometimes the relationship goes through two or three layers of foreign keys.</a:t>
            </a:r>
            <a:endParaRPr lang="en-US" sz="2000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FAD6136-759C-4977-2156-37291FCF4A9E}"/>
              </a:ext>
            </a:extLst>
          </p:cNvPr>
          <p:cNvCxnSpPr>
            <a:cxnSpLocks/>
          </p:cNvCxnSpPr>
          <p:nvPr/>
        </p:nvCxnSpPr>
        <p:spPr>
          <a:xfrm>
            <a:off x="1757363" y="2949397"/>
            <a:ext cx="428625" cy="250032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363FCF-9C8B-8E38-E28A-214C925FD85B}"/>
              </a:ext>
            </a:extLst>
          </p:cNvPr>
          <p:cNvCxnSpPr>
            <a:cxnSpLocks/>
          </p:cNvCxnSpPr>
          <p:nvPr/>
        </p:nvCxnSpPr>
        <p:spPr>
          <a:xfrm>
            <a:off x="785813" y="2655527"/>
            <a:ext cx="0" cy="1675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46BF08-AFA9-22C0-C33F-8F8DB77186D7}"/>
              </a:ext>
            </a:extLst>
          </p:cNvPr>
          <p:cNvCxnSpPr/>
          <p:nvPr/>
        </p:nvCxnSpPr>
        <p:spPr>
          <a:xfrm>
            <a:off x="785813" y="2843211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D15FD6-5A54-F73E-D103-957CB262C42E}"/>
              </a:ext>
            </a:extLst>
          </p:cNvPr>
          <p:cNvCxnSpPr/>
          <p:nvPr/>
        </p:nvCxnSpPr>
        <p:spPr>
          <a:xfrm>
            <a:off x="785813" y="3571874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BB6091-489A-AE09-E250-0BD059B822FB}"/>
              </a:ext>
            </a:extLst>
          </p:cNvPr>
          <p:cNvCxnSpPr/>
          <p:nvPr/>
        </p:nvCxnSpPr>
        <p:spPr>
          <a:xfrm>
            <a:off x="785813" y="3931440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EC591FE-CC4E-B5AF-9534-99D697594153}"/>
              </a:ext>
            </a:extLst>
          </p:cNvPr>
          <p:cNvCxnSpPr/>
          <p:nvPr/>
        </p:nvCxnSpPr>
        <p:spPr>
          <a:xfrm>
            <a:off x="785813" y="4312440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11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E607-200E-5643-EFD1-E867907E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1FD6-58B8-D43F-5C77-ACE9E956C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87262" cy="74295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AWS Q in Data 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6161-8653-AC7D-BD02-5C8F58844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85" y="1141981"/>
            <a:ext cx="10353675" cy="371475"/>
          </a:xfrm>
        </p:spPr>
        <p:txBody>
          <a:bodyPr>
            <a:normAutofit/>
          </a:bodyPr>
          <a:lstStyle/>
          <a:p>
            <a:pPr algn="l"/>
            <a:r>
              <a:rPr lang="en-IN" sz="1600" dirty="0"/>
              <a:t>Right now, the way we handle this is manual.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B1FFA-1CF2-3A0E-6A1D-1AB989A2D030}"/>
              </a:ext>
            </a:extLst>
          </p:cNvPr>
          <p:cNvSpPr txBox="1"/>
          <p:nvPr/>
        </p:nvSpPr>
        <p:spPr>
          <a:xfrm>
            <a:off x="-677762" y="1688336"/>
            <a:ext cx="110299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Students + Other Tables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Identify PK–FK relationships manually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Write separate SQL joins for each relationship 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UNION ALL results manually</a:t>
            </a:r>
          </a:p>
          <a:p>
            <a:pPr algn="ctr"/>
            <a:r>
              <a:rPr lang="en-US" sz="1600" dirty="0"/>
              <a:t>	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	</a:t>
            </a:r>
            <a:r>
              <a:rPr lang="en-US" sz="1600" dirty="0" err="1"/>
              <a:t>Retention_lookup</a:t>
            </a:r>
            <a:r>
              <a:rPr lang="en-US" sz="1600" dirty="0"/>
              <a:t> table	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Used by Retention Process to delete records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4A1CBD-7A8B-97A3-3CEC-23D0F22622BD}"/>
              </a:ext>
            </a:extLst>
          </p:cNvPr>
          <p:cNvCxnSpPr>
            <a:cxnSpLocks/>
          </p:cNvCxnSpPr>
          <p:nvPr/>
        </p:nvCxnSpPr>
        <p:spPr>
          <a:xfrm>
            <a:off x="4837213" y="1988991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ED28F6-0F5E-9B17-C894-722C0E659F91}"/>
              </a:ext>
            </a:extLst>
          </p:cNvPr>
          <p:cNvCxnSpPr/>
          <p:nvPr/>
        </p:nvCxnSpPr>
        <p:spPr>
          <a:xfrm>
            <a:off x="4837213" y="2755754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9C090A-C36A-60C3-A611-8407541D2C7D}"/>
              </a:ext>
            </a:extLst>
          </p:cNvPr>
          <p:cNvCxnSpPr>
            <a:cxnSpLocks/>
          </p:cNvCxnSpPr>
          <p:nvPr/>
        </p:nvCxnSpPr>
        <p:spPr>
          <a:xfrm>
            <a:off x="4841975" y="3532650"/>
            <a:ext cx="0" cy="292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2CA4F5-E941-FC36-ED8E-CA604D9F8F56}"/>
              </a:ext>
            </a:extLst>
          </p:cNvPr>
          <p:cNvCxnSpPr>
            <a:cxnSpLocks/>
          </p:cNvCxnSpPr>
          <p:nvPr/>
        </p:nvCxnSpPr>
        <p:spPr>
          <a:xfrm>
            <a:off x="4837213" y="4152897"/>
            <a:ext cx="0" cy="471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AFDA00-28FF-C2C2-80D7-ADFA1AB18BF0}"/>
              </a:ext>
            </a:extLst>
          </p:cNvPr>
          <p:cNvCxnSpPr>
            <a:cxnSpLocks/>
          </p:cNvCxnSpPr>
          <p:nvPr/>
        </p:nvCxnSpPr>
        <p:spPr>
          <a:xfrm>
            <a:off x="4841975" y="4919657"/>
            <a:ext cx="0" cy="471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693956-A6A2-A896-7F80-019B91DE0E60}"/>
              </a:ext>
            </a:extLst>
          </p:cNvPr>
          <p:cNvSpPr txBox="1"/>
          <p:nvPr/>
        </p:nvSpPr>
        <p:spPr>
          <a:xfrm>
            <a:off x="242885" y="6125630"/>
            <a:ext cx="12387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works, but as the number of tables grows, it becomes complex, repetitive, and time consuming to maintain.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2113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3B30-59EA-7525-D746-9D8A780E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7879-5178-3CF5-03E2-3FCDA0A8B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87262" cy="74295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AWS Q in Data 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665-E509-394F-9284-44FCB142B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85" y="963323"/>
            <a:ext cx="11288055" cy="742950"/>
          </a:xfrm>
        </p:spPr>
        <p:txBody>
          <a:bodyPr>
            <a:normAutofit/>
          </a:bodyPr>
          <a:lstStyle/>
          <a:p>
            <a:pPr algn="l"/>
            <a:r>
              <a:rPr lang="en-IN" sz="1600" dirty="0"/>
              <a:t>AWS Q can help automate and scale our data retention SQL logic. Instead of manually writing joins for every table, AWS Q uses our metadata configuration to understand table relationships and build the SQL automatically.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3D4A7-F9A9-FA3A-B09B-A17EE0E92ACC}"/>
              </a:ext>
            </a:extLst>
          </p:cNvPr>
          <p:cNvSpPr txBox="1"/>
          <p:nvPr/>
        </p:nvSpPr>
        <p:spPr>
          <a:xfrm>
            <a:off x="-677762" y="1688336"/>
            <a:ext cx="110299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Metadata Config Table (MMD -&gt; AWS 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AWS Q reads metadata relationships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Automatically generates dynamic SQL joins + unions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Athena executes the generated SQL	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	</a:t>
            </a:r>
          </a:p>
          <a:p>
            <a:pPr algn="ctr"/>
            <a:r>
              <a:rPr lang="en-US" sz="1600" dirty="0" err="1"/>
              <a:t>retention_lookup</a:t>
            </a:r>
            <a:r>
              <a:rPr lang="en-US" sz="1600" dirty="0"/>
              <a:t> table built automatically	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Used by Retention Process to delete records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0D6212-4362-CDE2-0B64-0467E40DA8E2}"/>
              </a:ext>
            </a:extLst>
          </p:cNvPr>
          <p:cNvCxnSpPr>
            <a:cxnSpLocks/>
          </p:cNvCxnSpPr>
          <p:nvPr/>
        </p:nvCxnSpPr>
        <p:spPr>
          <a:xfrm>
            <a:off x="4837213" y="1988991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E9F4CC-8178-5830-F7CF-484B7187CB02}"/>
              </a:ext>
            </a:extLst>
          </p:cNvPr>
          <p:cNvCxnSpPr/>
          <p:nvPr/>
        </p:nvCxnSpPr>
        <p:spPr>
          <a:xfrm>
            <a:off x="4837213" y="2755754"/>
            <a:ext cx="0" cy="37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0BD566-8225-7991-B709-414F3E2918F2}"/>
              </a:ext>
            </a:extLst>
          </p:cNvPr>
          <p:cNvCxnSpPr>
            <a:cxnSpLocks/>
          </p:cNvCxnSpPr>
          <p:nvPr/>
        </p:nvCxnSpPr>
        <p:spPr>
          <a:xfrm>
            <a:off x="4841975" y="3532650"/>
            <a:ext cx="0" cy="292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2247D1-7D78-CF35-73E1-F0C1EFD5DCF9}"/>
              </a:ext>
            </a:extLst>
          </p:cNvPr>
          <p:cNvCxnSpPr>
            <a:cxnSpLocks/>
          </p:cNvCxnSpPr>
          <p:nvPr/>
        </p:nvCxnSpPr>
        <p:spPr>
          <a:xfrm>
            <a:off x="4837213" y="4298868"/>
            <a:ext cx="0" cy="36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3267FD-396E-56A7-0DC9-20BC26A1E731}"/>
              </a:ext>
            </a:extLst>
          </p:cNvPr>
          <p:cNvCxnSpPr>
            <a:cxnSpLocks/>
          </p:cNvCxnSpPr>
          <p:nvPr/>
        </p:nvCxnSpPr>
        <p:spPr>
          <a:xfrm>
            <a:off x="4841975" y="5070764"/>
            <a:ext cx="0" cy="320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95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4497-947D-B1F9-8EC7-8EF7A06DD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7250-277E-1319-6454-3802DB869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87262" cy="74295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AWS Q in Data Retention: prompt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1B7D7-43FF-D992-9167-430D22686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886" y="963322"/>
            <a:ext cx="11250910" cy="5618231"/>
          </a:xfrm>
        </p:spPr>
        <p:txBody>
          <a:bodyPr>
            <a:noAutofit/>
          </a:bodyPr>
          <a:lstStyle/>
          <a:p>
            <a:pPr algn="l"/>
            <a:r>
              <a:rPr lang="en-IN" sz="1600" b="0" i="0" dirty="0">
                <a:effectLst/>
              </a:rPr>
              <a:t>I have an Athena metadata table </a:t>
            </a:r>
            <a:r>
              <a:rPr lang="en-IN" sz="1600" b="0" i="0" dirty="0" err="1">
                <a:effectLst/>
              </a:rPr>
              <a:t>dataretention_config</a:t>
            </a:r>
            <a:r>
              <a:rPr lang="en-IN" sz="1600" b="0" i="0" dirty="0">
                <a:effectLst/>
              </a:rPr>
              <a:t> with columns: </a:t>
            </a:r>
          </a:p>
          <a:p>
            <a:pPr algn="l"/>
            <a:r>
              <a:rPr lang="en-IN" sz="1600" b="0" i="0" dirty="0">
                <a:effectLst/>
              </a:rPr>
              <a:t>system, </a:t>
            </a:r>
            <a:r>
              <a:rPr lang="en-IN" sz="1600" b="0" i="0" dirty="0" err="1">
                <a:effectLst/>
              </a:rPr>
              <a:t>table_name</a:t>
            </a:r>
            <a:r>
              <a:rPr lang="en-IN" sz="1600" b="0" i="0" dirty="0">
                <a:effectLst/>
              </a:rPr>
              <a:t>, </a:t>
            </a:r>
            <a:r>
              <a:rPr lang="en-IN" sz="1600" b="0" i="0" dirty="0" err="1">
                <a:effectLst/>
              </a:rPr>
              <a:t>column_name</a:t>
            </a:r>
            <a:r>
              <a:rPr lang="en-IN" sz="1600" b="0" i="0" dirty="0">
                <a:effectLst/>
              </a:rPr>
              <a:t>, </a:t>
            </a:r>
            <a:r>
              <a:rPr lang="en-IN" sz="1600" b="0" i="0" dirty="0" err="1">
                <a:effectLst/>
              </a:rPr>
              <a:t>foreign_key_table</a:t>
            </a:r>
            <a:r>
              <a:rPr lang="en-IN" sz="1600" b="0" i="0" dirty="0">
                <a:effectLst/>
              </a:rPr>
              <a:t>, </a:t>
            </a:r>
            <a:r>
              <a:rPr lang="en-IN" sz="1600" b="0" i="0" dirty="0" err="1">
                <a:effectLst/>
              </a:rPr>
              <a:t>foreign_key_field</a:t>
            </a:r>
            <a:r>
              <a:rPr lang="en-IN" sz="1600" b="0" i="0" dirty="0">
                <a:effectLst/>
              </a:rPr>
              <a:t>, </a:t>
            </a:r>
            <a:r>
              <a:rPr lang="en-IN" sz="1600" b="0" i="0" dirty="0" err="1">
                <a:effectLst/>
              </a:rPr>
              <a:t>key_type</a:t>
            </a:r>
            <a:r>
              <a:rPr lang="en-IN" sz="1600" b="0" i="0" dirty="0">
                <a:effectLst/>
              </a:rPr>
              <a:t>, </a:t>
            </a:r>
            <a:r>
              <a:rPr lang="en-IN" sz="1600" b="0" i="0" dirty="0" err="1">
                <a:effectLst/>
              </a:rPr>
              <a:t>dataretention</a:t>
            </a:r>
            <a:r>
              <a:rPr lang="en-IN" sz="1600" b="0" i="0" dirty="0">
                <a:effectLst/>
              </a:rPr>
              <a:t>, fieldtag1.</a:t>
            </a:r>
            <a:endParaRPr lang="en-IN" sz="1600" dirty="0"/>
          </a:p>
          <a:p>
            <a:pPr algn="l"/>
            <a:r>
              <a:rPr lang="en-IN" sz="1600" b="0" i="0" dirty="0">
                <a:effectLst/>
              </a:rPr>
              <a:t>Each record defines a child table (</a:t>
            </a:r>
            <a:r>
              <a:rPr lang="en-IN" sz="1600" b="0" i="0" dirty="0" err="1">
                <a:effectLst/>
              </a:rPr>
              <a:t>table_name</a:t>
            </a:r>
            <a:r>
              <a:rPr lang="en-IN" sz="1600" b="0" i="0" dirty="0">
                <a:effectLst/>
              </a:rPr>
              <a:t> + </a:t>
            </a:r>
            <a:r>
              <a:rPr lang="en-IN" sz="1600" b="0" i="0" dirty="0" err="1">
                <a:effectLst/>
              </a:rPr>
              <a:t>column_name</a:t>
            </a:r>
            <a:r>
              <a:rPr lang="en-IN" sz="1600" b="0" i="0" dirty="0">
                <a:effectLst/>
              </a:rPr>
              <a:t>) and a parent table (</a:t>
            </a:r>
            <a:r>
              <a:rPr lang="en-IN" sz="1600" b="0" i="0" dirty="0" err="1">
                <a:effectLst/>
              </a:rPr>
              <a:t>foreign_key_table</a:t>
            </a:r>
            <a:r>
              <a:rPr lang="en-IN" sz="1600" b="0" i="0" dirty="0">
                <a:effectLst/>
              </a:rPr>
              <a:t> + </a:t>
            </a:r>
            <a:r>
              <a:rPr lang="en-IN" sz="1600" b="0" i="0" dirty="0" err="1">
                <a:effectLst/>
              </a:rPr>
              <a:t>foreign_key_field</a:t>
            </a:r>
            <a:r>
              <a:rPr lang="en-IN" sz="1600" b="0" i="0" dirty="0">
                <a:effectLst/>
              </a:rPr>
              <a:t>).</a:t>
            </a:r>
          </a:p>
          <a:p>
            <a:pPr algn="l"/>
            <a:r>
              <a:rPr lang="en-IN" sz="1600" b="0" i="0" dirty="0">
                <a:effectLst/>
              </a:rPr>
              <a:t> fieldtag1 is the column in the parent table storing student ID. </a:t>
            </a:r>
          </a:p>
          <a:p>
            <a:pPr algn="l"/>
            <a:r>
              <a:rPr lang="en-IN" sz="1600" dirty="0"/>
              <a:t>please</a:t>
            </a:r>
            <a:r>
              <a:rPr lang="en-IN" sz="1600" b="0" i="0" dirty="0">
                <a:effectLst/>
              </a:rPr>
              <a:t> generate a single SQL query compatible with Athena that: </a:t>
            </a:r>
          </a:p>
          <a:p>
            <a:pPr algn="l"/>
            <a:r>
              <a:rPr lang="en-IN" sz="1600" b="0" i="0" dirty="0">
                <a:effectLst/>
              </a:rPr>
              <a:t>Joins each child table to its parent using </a:t>
            </a:r>
          </a:p>
          <a:p>
            <a:pPr algn="l"/>
            <a:r>
              <a:rPr lang="en-IN" sz="1600" b="0" i="0" dirty="0" err="1">
                <a:effectLst/>
              </a:rPr>
              <a:t>child.column_name</a:t>
            </a:r>
            <a:r>
              <a:rPr lang="en-IN" sz="1600" b="0" i="0" dirty="0">
                <a:effectLst/>
              </a:rPr>
              <a:t> = </a:t>
            </a:r>
            <a:r>
              <a:rPr lang="en-IN" sz="1600" b="0" i="0" dirty="0" err="1">
                <a:effectLst/>
              </a:rPr>
              <a:t>parent.foreign_key_field</a:t>
            </a:r>
            <a:r>
              <a:rPr lang="en-IN" sz="1600" b="0" i="0" dirty="0">
                <a:effectLst/>
              </a:rPr>
              <a:t>. </a:t>
            </a:r>
          </a:p>
          <a:p>
            <a:pPr algn="l"/>
            <a:endParaRPr lang="en-IN" sz="1600" b="0" i="0" dirty="0">
              <a:effectLst/>
            </a:endParaRPr>
          </a:p>
          <a:p>
            <a:pPr algn="l"/>
            <a:r>
              <a:rPr lang="en-IN" sz="1600" b="0" i="0" dirty="0">
                <a:effectLst/>
              </a:rPr>
              <a:t>Selects: </a:t>
            </a:r>
            <a:r>
              <a:rPr lang="en-IN" sz="1600" b="0" i="0" dirty="0" err="1">
                <a:effectLst/>
              </a:rPr>
              <a:t>object_name</a:t>
            </a:r>
            <a:r>
              <a:rPr lang="en-IN" sz="1600" b="0" i="0" dirty="0">
                <a:effectLst/>
              </a:rPr>
              <a:t> = </a:t>
            </a:r>
            <a:r>
              <a:rPr lang="en-IN" sz="1600" b="0" i="0" dirty="0" err="1">
                <a:effectLst/>
              </a:rPr>
              <a:t>table_name</a:t>
            </a:r>
            <a:r>
              <a:rPr lang="en-IN" sz="1600" b="0" i="0" dirty="0">
                <a:effectLst/>
              </a:rPr>
              <a:t> </a:t>
            </a:r>
          </a:p>
          <a:p>
            <a:pPr algn="l"/>
            <a:r>
              <a:rPr lang="en-IN" sz="1600" b="0" i="0" dirty="0" err="1">
                <a:effectLst/>
              </a:rPr>
              <a:t>attribute_name</a:t>
            </a:r>
            <a:r>
              <a:rPr lang="en-IN" sz="1600" b="0" i="0" dirty="0">
                <a:effectLst/>
              </a:rPr>
              <a:t> = </a:t>
            </a:r>
            <a:r>
              <a:rPr lang="en-IN" sz="1600" b="0" i="0" dirty="0" err="1">
                <a:effectLst/>
              </a:rPr>
              <a:t>column_name</a:t>
            </a:r>
            <a:r>
              <a:rPr lang="en-IN" sz="1600" b="0" i="0" dirty="0">
                <a:effectLst/>
              </a:rPr>
              <a:t> </a:t>
            </a:r>
          </a:p>
          <a:p>
            <a:pPr algn="l"/>
            <a:r>
              <a:rPr lang="en-IN" sz="1600" b="0" i="0" dirty="0">
                <a:effectLst/>
              </a:rPr>
              <a:t>value = </a:t>
            </a:r>
            <a:r>
              <a:rPr lang="en-IN" sz="1600" b="0" i="0" dirty="0" err="1">
                <a:effectLst/>
              </a:rPr>
              <a:t>child.column_name</a:t>
            </a:r>
            <a:r>
              <a:rPr lang="en-IN" sz="1600" b="0" i="0" dirty="0">
                <a:effectLst/>
              </a:rPr>
              <a:t> </a:t>
            </a:r>
          </a:p>
          <a:p>
            <a:pPr algn="l"/>
            <a:r>
              <a:rPr lang="en-IN" sz="1600" b="0" i="0" dirty="0" err="1">
                <a:effectLst/>
              </a:rPr>
              <a:t>student_id</a:t>
            </a:r>
            <a:r>
              <a:rPr lang="en-IN" sz="1600" b="0" i="0" dirty="0">
                <a:effectLst/>
              </a:rPr>
              <a:t> = parent.fieldtag1 </a:t>
            </a:r>
          </a:p>
          <a:p>
            <a:pPr algn="l"/>
            <a:r>
              <a:rPr lang="en-IN" sz="1600" b="0" i="0" dirty="0">
                <a:effectLst/>
              </a:rPr>
              <a:t>Unions all relationships into a single output table called </a:t>
            </a:r>
            <a:r>
              <a:rPr lang="en-IN" sz="1600" b="0" i="0" dirty="0" err="1">
                <a:effectLst/>
              </a:rPr>
              <a:t>retention_lookup</a:t>
            </a:r>
            <a:r>
              <a:rPr lang="en-IN" sz="1600" b="0" i="0" dirty="0">
                <a:effectLst/>
              </a:rPr>
              <a:t>. </a:t>
            </a:r>
          </a:p>
          <a:p>
            <a:pPr algn="l"/>
            <a:r>
              <a:rPr lang="en-IN" sz="1600" b="0" i="0" dirty="0">
                <a:effectLst/>
              </a:rPr>
              <a:t>Do not use any functions or syntax not supported in Athena. Use consistent table aliases (child and parent) and preserve exact column names from the metadata. Return the SQL as a CREATE TABLE AS SELECT statement.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19227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490</Words>
  <Application>Microsoft Macintosh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AWS Q in Data Retention</vt:lpstr>
      <vt:lpstr>AWS Q in Data Retention</vt:lpstr>
      <vt:lpstr>AWS Q in Data Retention</vt:lpstr>
      <vt:lpstr>AWS Q in Data Retention: prompt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Sonu, Ashutosh Kumar</dc:creator>
  <cp:lastModifiedBy>Sonu, Ashutosh Kumar</cp:lastModifiedBy>
  <cp:revision>3</cp:revision>
  <dcterms:created xsi:type="dcterms:W3CDTF">2025-11-05T07:22:27Z</dcterms:created>
  <dcterms:modified xsi:type="dcterms:W3CDTF">2025-11-05T10:13:50Z</dcterms:modified>
</cp:coreProperties>
</file>